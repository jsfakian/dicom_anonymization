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DICOM De-Identification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Secure Medical Imaging Anonymization</a:t>
            </a:r>
          </a:p>
          <a:p>
            <a:r>
              <a:t>Training Session •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Medical Data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DICOM files contain sensitive patient information:</a:t>
            </a:r>
          </a:p>
          <a:p>
            <a:pPr/>
            <a:r>
              <a:t>  • Patient names and IDs embedded in metadata</a:t>
            </a:r>
          </a:p>
          <a:p>
            <a:pPr/>
            <a:r>
              <a:t>  • Birth dates and study dates for identification</a:t>
            </a:r>
          </a:p>
          <a:p>
            <a:pPr/>
            <a:r>
              <a:t>  • Burned-in text overlays on pixel data</a:t>
            </a:r>
          </a:p>
          <a:p>
            <a:pPr/>
            <a:r>
              <a:t>  • Unique identifiers (UIDs) linking to source systems</a:t>
            </a:r>
          </a:p>
          <a:p>
            <a:pPr/>
          </a:p>
          <a:p>
            <a:pPr/>
            <a:r>
              <a:t>Regulatory Requirements:</a:t>
            </a:r>
          </a:p>
          <a:p>
            <a:pPr/>
            <a:r>
              <a:t>  • HIPAA (US): Requires de-identification for research</a:t>
            </a:r>
          </a:p>
          <a:p>
            <a:pPr/>
            <a:r>
              <a:t>  • GDPR (EU): Patient consent and data minimization</a:t>
            </a:r>
          </a:p>
          <a:p>
            <a:pPr/>
            <a:r>
              <a:t>  • Hospital protocols: Additional privacy standards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Real-world risks of improper anonymization:</a:t>
            </a:r>
          </a:p>
          <a:p>
            <a:pPr/>
            <a:r>
              <a:t>  • Data breach exposure during research collaboration</a:t>
            </a:r>
          </a:p>
          <a:p>
            <a:pPr/>
            <a:r>
              <a:t>  • Accidental patient re-identification from metadata</a:t>
            </a:r>
          </a:p>
          <a:p>
            <a:pPr/>
            <a:r>
              <a:t>  • Liability and compliance violations</a:t>
            </a:r>
          </a:p>
          <a:p>
            <a:pPr/>
            <a:r>
              <a:t>  • Loss of institutional trust</a:t>
            </a:r>
          </a:p>
          <a:p>
            <a:pPr/>
          </a:p>
          <a:p>
            <a:pPr/>
            <a:r>
              <a:t>What we need:</a:t>
            </a:r>
          </a:p>
          <a:p>
            <a:pPr/>
            <a:r>
              <a:t>  ✓ Remove all personally identifiable information</a:t>
            </a:r>
          </a:p>
          <a:p>
            <a:pPr/>
            <a:r>
              <a:t>  ✓ Maintain data utility for research</a:t>
            </a:r>
          </a:p>
          <a:p>
            <a:pPr/>
            <a:r>
              <a:t>  ✓ Enable reproducible de-identification</a:t>
            </a:r>
          </a:p>
          <a:p>
            <a:pPr/>
            <a:r>
              <a:t>  ✓ Create audit trails for compliance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vs. Better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❌ Random pseudonymization:</a:t>
            </a:r>
          </a:p>
          <a:p>
            <a:pPr/>
            <a:r>
              <a:t>  • Different pseudonyms on each run</a:t>
            </a:r>
          </a:p>
          <a:p>
            <a:pPr/>
            <a:r>
              <a:t>  • Cannot link related studies from same patient</a:t>
            </a:r>
          </a:p>
          <a:p>
            <a:pPr/>
            <a:r>
              <a:t>  • Manual re-anonymization needed for new batches</a:t>
            </a:r>
          </a:p>
          <a:p>
            <a:pPr/>
          </a:p>
          <a:p>
            <a:pPr/>
            <a:r>
              <a:t>✓ Deterministic pseudonymization:</a:t>
            </a:r>
          </a:p>
          <a:p>
            <a:pPr/>
            <a:r>
              <a:t>  • Same patient always gets same pseudonym</a:t>
            </a:r>
          </a:p>
          <a:p>
            <a:pPr/>
            <a:r>
              <a:t>  • Enable legitimate data linkage (e.g., multi-series studies)</a:t>
            </a:r>
          </a:p>
          <a:p>
            <a:pPr/>
            <a:r>
              <a:t>  • Reproducible: re-run with same SALT produces identical results</a:t>
            </a:r>
          </a:p>
          <a:p>
            <a:pPr/>
            <a:r>
              <a:t>  • Keyed by secret phrase: only those with SALT can re-identify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DICOM De-Identification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Purpose:</a:t>
            </a:r>
          </a:p>
          <a:p>
            <a:pPr/>
            <a:r>
              <a:t>  • Convert DICOM files from identifiable to research-grade</a:t>
            </a:r>
          </a:p>
          <a:p>
            <a:pPr/>
            <a:r>
              <a:t>  • Use deterministic pseudonymization based on secret phrase (SALT)</a:t>
            </a:r>
          </a:p>
          <a:p>
            <a:pPr/>
            <a:r>
              <a:t>  • Safely handle both metadata and pixel data</a:t>
            </a:r>
          </a:p>
          <a:p>
            <a:pPr/>
          </a:p>
          <a:p>
            <a:pPr/>
            <a:r>
              <a:t>Key Strengths:</a:t>
            </a:r>
          </a:p>
          <a:p>
            <a:pPr/>
            <a:r>
              <a:t>  • Preserves ability to link related images from same patient</a:t>
            </a:r>
          </a:p>
          <a:p>
            <a:pPr/>
            <a:r>
              <a:t>  • Creates comprehensive audit log of all changes</a:t>
            </a:r>
          </a:p>
          <a:p>
            <a:pPr/>
            <a:r>
              <a:t>  • Mask burned-in text on images (OpenCV-based)</a:t>
            </a:r>
          </a:p>
          <a:p>
            <a:pPr/>
            <a:r>
              <a:t>  • Never modifies original files (safe batch processing)</a:t>
            </a:r>
          </a:p>
          <a:p>
            <a:pPr/>
            <a:r>
              <a:t>  • Flexible profiles for different 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Deterministic Pseudonymization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Process:</a:t>
            </a:r>
          </a:p>
          <a:p>
            <a:pPr/>
            <a:r>
              <a:t>  1. User provides SALT phrase (e.g., 'my-secret-key')</a:t>
            </a:r>
          </a:p>
          <a:p>
            <a:pPr/>
            <a:r>
              <a:t>  2. Tool extracts PatientID from DICOM file</a:t>
            </a:r>
          </a:p>
          <a:p>
            <a:pPr/>
            <a:r>
              <a:t>  3. Creates deterministic hash: SHA1(PatientID + SALT)</a:t>
            </a:r>
          </a:p>
          <a:p>
            <a:pPr/>
            <a:r>
              <a:t>  4. Generates consistent pseudonym: PX + first 6 hex chars</a:t>
            </a:r>
          </a:p>
          <a:p>
            <a:pPr/>
          </a:p>
          <a:p>
            <a:pPr/>
            <a:r>
              <a:t>Example:</a:t>
            </a:r>
          </a:p>
          <a:p>
            <a:pPr/>
            <a:r>
              <a:t>  Original PatientID: '12345'</a:t>
            </a:r>
          </a:p>
          <a:p>
            <a:pPr/>
            <a:r>
              <a:t>  SALT: 'SecretKey2026'</a:t>
            </a:r>
          </a:p>
          <a:p>
            <a:pPr/>
            <a:r>
              <a:t>  Pseudonym: PX3F91AD (always same for this patient &amp; SALT)</a:t>
            </a:r>
          </a:p>
          <a:p>
            <a:pPr/>
          </a:p>
          <a:p>
            <a:pPr/>
            <a:r>
              <a:t>Benefit: Same patient's multiple studies always link together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Core Features: Anonymization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2400"/>
            </a:pPr>
            <a:r>
              <a:t>Anonymization Actions</a:t>
            </a:r>
          </a:p>
          <a:p>
            <a:pPr>
              <a:defRPr sz="1400"/>
            </a:pPr>
            <a:r>
              <a:t>• PatientName → 'ANON' or pseudonym</a:t>
            </a:r>
          </a:p>
          <a:p>
            <a:pPr>
              <a:defRPr sz="1400"/>
            </a:pPr>
            <a:r>
              <a:t>• PatientID → PX + 6-digit hash</a:t>
            </a:r>
          </a:p>
          <a:p>
            <a:pPr>
              <a:defRPr sz="1400"/>
            </a:pPr>
            <a:r>
              <a:t>• Birth/Study dates → Remove or keep</a:t>
            </a:r>
          </a:p>
          <a:p>
            <a:pPr>
              <a:defRPr sz="1400"/>
            </a:pPr>
            <a:r>
              <a:t>• UIDs → Random or deterministic</a:t>
            </a:r>
          </a:p>
          <a:p>
            <a:pPr>
              <a:defRPr sz="1400"/>
            </a:pPr>
            <a:r>
              <a:t>• Private tags → Remove completely</a:t>
            </a:r>
          </a:p>
          <a:p>
            <a:pPr>
              <a:defRPr sz="1400"/>
            </a:pPr>
            <a:r>
              <a:t>• Pixel data → Blackout text overlays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2400"/>
            </a:pPr>
            <a:r>
              <a:t>Safety Guarantees</a:t>
            </a:r>
          </a:p>
          <a:p>
            <a:pPr>
              <a:defRPr sz="1400"/>
            </a:pPr>
            <a:r>
              <a:t>⚓ Never modifies source files</a:t>
            </a:r>
          </a:p>
          <a:p>
            <a:pPr>
              <a:defRPr sz="1400"/>
            </a:pPr>
            <a:r>
              <a:t>⚓ All changes logged to CSV</a:t>
            </a:r>
          </a:p>
          <a:p>
            <a:pPr>
              <a:defRPr sz="1400"/>
            </a:pPr>
            <a:r>
              <a:t>⚓ Timestamped output folders</a:t>
            </a:r>
          </a:p>
          <a:p>
            <a:pPr>
              <a:defRPr sz="1400"/>
            </a:pPr>
            <a:r>
              <a:t>⚓ Organized by patient pseudonym</a:t>
            </a:r>
          </a:p>
          <a:p>
            <a:pPr>
              <a:defRPr sz="1400"/>
            </a:pPr>
            <a:r>
              <a:t>⚓ Audit trail shows old→new values</a:t>
            </a:r>
          </a:p>
          <a:p>
            <a:pPr>
              <a:defRPr sz="1400"/>
            </a:pPr>
            <a:r>
              <a:t>⚓ Reversibility via SALT (if needed)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Comprehensive Audit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Every tag change is recorded in anonymization_log.csv:</a:t>
            </a:r>
          </a:p>
          <a:p>
            <a:pPr/>
            <a:r>
              <a:t>  • Input file path</a:t>
            </a:r>
          </a:p>
          <a:p>
            <a:pPr/>
            <a:r>
              <a:t>  • Output file path</a:t>
            </a:r>
          </a:p>
          <a:p>
            <a:pPr/>
            <a:r>
              <a:t>  • Patient ID (original &amp; pseudonym)</a:t>
            </a:r>
          </a:p>
          <a:p>
            <a:pPr/>
            <a:r>
              <a:t>  • Tag name, original value, new value</a:t>
            </a:r>
          </a:p>
          <a:p>
            <a:pPr/>
            <a:r>
              <a:t>  • Timestamp and processing status</a:t>
            </a:r>
          </a:p>
          <a:p>
            <a:pPr/>
          </a:p>
          <a:p>
            <a:pPr/>
            <a:r>
              <a:t>Use cases:</a:t>
            </a:r>
          </a:p>
          <a:p>
            <a:pPr/>
            <a:r>
              <a:t>  • Verify which tags were modified for compliance</a:t>
            </a:r>
          </a:p>
          <a:p>
            <a:pPr/>
            <a:r>
              <a:t>  • Track processing history for troubleshooting</a:t>
            </a:r>
          </a:p>
          <a:p>
            <a:pPr/>
            <a:r>
              <a:t>  • Reproduce specific patient's anonymization</a:t>
            </a:r>
          </a:p>
          <a:p>
            <a:pPr/>
            <a:r>
              <a:t>  • Provide evidence for regulatory audits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Pixel Blackout &amp; Batch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Pixel Blackout:</a:t>
            </a:r>
          </a:p>
          <a:p>
            <a:pPr/>
            <a:r>
              <a:t>  • Detects burned-in clinical text (image overlays)</a:t>
            </a:r>
          </a:p>
          <a:p>
            <a:pPr/>
            <a:r>
              <a:t>  • Uses OpenCV edge detection algorithm</a:t>
            </a:r>
          </a:p>
          <a:p>
            <a:pPr/>
            <a:r>
              <a:t>  • Masks detected regions to prevent re-identification</a:t>
            </a:r>
          </a:p>
          <a:p>
            <a:pPr/>
            <a:r>
              <a:t>  • Automatic; no manual image editing needed</a:t>
            </a:r>
          </a:p>
          <a:p>
            <a:pPr/>
          </a:p>
          <a:p>
            <a:pPr/>
            <a:r>
              <a:t>Batch Processing:</a:t>
            </a:r>
          </a:p>
          <a:p>
            <a:pPr/>
            <a:r>
              <a:t>  • Process single files or entire directory trees</a:t>
            </a:r>
          </a:p>
          <a:p>
            <a:pPr/>
            <a:r>
              <a:t>  • Organized output: DICOM/{PatientID}/{filename.dcm}</a:t>
            </a:r>
          </a:p>
          <a:p>
            <a:pPr/>
            <a:r>
              <a:t>  • Sequential processing (easily parallelizable)</a:t>
            </a:r>
          </a:p>
          <a:p>
            <a:pPr/>
            <a:r>
              <a:t>  • Handles large datasets efficiently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Installation: 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Minimum Requirements:</a:t>
            </a:r>
          </a:p>
          <a:p>
            <a:pPr/>
            <a:r>
              <a:t>  • Python 3.8 or newer</a:t>
            </a:r>
          </a:p>
          <a:p>
            <a:pPr/>
            <a:r>
              <a:t>  • ~200 MB disk space for dependencies</a:t>
            </a:r>
          </a:p>
          <a:p>
            <a:pPr/>
            <a:r>
              <a:t>  • macOS, Linux, or Windows</a:t>
            </a:r>
          </a:p>
          <a:p>
            <a:pPr/>
          </a:p>
          <a:p>
            <a:pPr/>
            <a:r>
              <a:t>Required Python Libraries (auto-installed):</a:t>
            </a:r>
          </a:p>
          <a:p>
            <a:pPr/>
            <a:r>
              <a:t>  • pydicom — DICOM file handling</a:t>
            </a:r>
          </a:p>
          <a:p>
            <a:pPr/>
            <a:r>
              <a:t>  • numpy — Array operations</a:t>
            </a:r>
          </a:p>
          <a:p>
            <a:pPr/>
            <a:r>
              <a:t>  • opencv-python — Image processing (pixel blackout)</a:t>
            </a:r>
          </a:p>
          <a:p>
            <a:pPr/>
            <a:r>
              <a:t>  • supporting libraries for UI modulation/packaging</a:t>
            </a:r>
          </a:p>
          <a:p>
            <a:pPr/>
          </a:p>
          <a:p>
            <a:pPr/>
            <a:r>
              <a:t>Note: Pre-built executables available (no Python required)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Installation: Quick Setup (Option 1 - Automated)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macOS / Linux:</a:t>
            </a:r>
          </a:p>
          <a:p>
            <a:pPr/>
            <a:r>
              <a:t>  $ cd /path/to/dicom_anonymization</a:t>
            </a:r>
          </a:p>
          <a:p>
            <a:pPr/>
            <a:r>
              <a:t>  $ bash setup_environment.sh</a:t>
            </a:r>
          </a:p>
          <a:p>
            <a:pPr/>
            <a:r>
              <a:t>  $ source .venv/bin/activate</a:t>
            </a:r>
          </a:p>
          <a:p>
            <a:pPr/>
          </a:p>
          <a:p>
            <a:pPr/>
            <a:r>
              <a:t>Windows (PowerShell):</a:t>
            </a:r>
          </a:p>
          <a:p>
            <a:pPr/>
            <a:r>
              <a:t>  &gt; cd C:\path\to\dicom_anonymization</a:t>
            </a:r>
          </a:p>
          <a:p>
            <a:pPr/>
            <a:r>
              <a:t>  &gt; .venv\Scripts\Activate.ps1</a:t>
            </a:r>
          </a:p>
          <a:p>
            <a:pPr/>
          </a:p>
          <a:p>
            <a:pPr/>
            <a:r>
              <a:t>Result:</a:t>
            </a:r>
          </a:p>
          <a:p>
            <a:pPr/>
            <a:r>
              <a:t>  ✓ Virtual environment created (.venv/)</a:t>
            </a:r>
          </a:p>
          <a:p>
            <a:pPr/>
            <a:r>
              <a:t>  ✓ All dependencies installed</a:t>
            </a:r>
          </a:p>
          <a:p>
            <a:pPr/>
            <a:r>
              <a:t>  ✓ Ready to run anonymizer_pro.py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Installation: Manual Setup (Option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Step 1 - Create virtual environment:</a:t>
            </a:r>
          </a:p>
          <a:p>
            <a:pPr/>
            <a:r>
              <a:t>  $ python3 -m venv .venv</a:t>
            </a:r>
          </a:p>
          <a:p>
            <a:pPr/>
            <a:r>
              <a:t>  $ source .venv/bin/activate    # or .venv\Scripts\activate on Windows</a:t>
            </a:r>
          </a:p>
          <a:p>
            <a:pPr/>
          </a:p>
          <a:p>
            <a:pPr/>
            <a:r>
              <a:t>Step 2 - Install dependencies:</a:t>
            </a:r>
          </a:p>
          <a:p>
            <a:pPr/>
            <a:r>
              <a:t>  $ pip install --upgrade pip</a:t>
            </a:r>
          </a:p>
          <a:p>
            <a:pPr/>
            <a:r>
              <a:t>  $ pip install -r requirements.txt</a:t>
            </a:r>
          </a:p>
          <a:p>
            <a:pPr/>
          </a:p>
          <a:p>
            <a:pPr/>
            <a:r>
              <a:t>Step 3 - Verify installation:</a:t>
            </a:r>
          </a:p>
          <a:p>
            <a:pPr/>
            <a:r>
              <a:t>  $ python anonymizer_pro.py --help</a:t>
            </a:r>
          </a:p>
          <a:p>
            <a:pPr/>
          </a:p>
          <a:p>
            <a:pPr/>
            <a:r>
              <a:t>If successful, you'll see the tool's usage instructions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Usage: Basic Command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Required arguments:</a:t>
            </a:r>
          </a:p>
          <a:p>
            <a:pPr/>
            <a:r>
              <a:t>  -i, --input           DICOM file or folder path</a:t>
            </a:r>
          </a:p>
          <a:p>
            <a:pPr/>
            <a:r>
              <a:t>  --salt                Secret phrase for pseudonymization</a:t>
            </a:r>
          </a:p>
          <a:p>
            <a:pPr/>
          </a:p>
          <a:p>
            <a:pPr/>
            <a:r>
              <a:t>Optional arguments:</a:t>
            </a:r>
          </a:p>
          <a:p>
            <a:pPr/>
            <a:r>
              <a:t>  -p, --profile-fname   JSON profile file (default: GDPR-strict.json)</a:t>
            </a:r>
          </a:p>
          <a:p>
            <a:pPr/>
            <a:r>
              <a:t>  -o, --output          Output directory (default: current directory)</a:t>
            </a:r>
          </a:p>
          <a:p>
            <a:pPr/>
          </a:p>
          <a:p>
            <a:pPr/>
            <a:r>
              <a:t>Example - Single file with GDPR profile:</a:t>
            </a:r>
          </a:p>
          <a:p>
            <a:pPr/>
            <a:r>
              <a:t>  $ python anonymizer_pro.py \</a:t>
            </a:r>
          </a:p>
          <a:p>
            <a:pPr/>
            <a:r>
              <a:t>      -i patient_study.dcm \</a:t>
            </a:r>
          </a:p>
          <a:p>
            <a:pPr/>
            <a:r>
              <a:t>      -p GDPR-strict.json \</a:t>
            </a:r>
          </a:p>
          <a:p>
            <a:pPr/>
            <a:r>
              <a:t>      --salt 'my-secret-key'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Anonymization Profiles: GDPR-strict vs.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2400"/>
            </a:pPr>
            <a:r>
              <a:t>GDPR-strict Profile</a:t>
            </a:r>
          </a:p>
          <a:p>
            <a:pPr>
              <a:defRPr sz="1400"/>
            </a:pPr>
            <a:r>
              <a:t>Maximum de-identification</a:t>
            </a:r>
          </a:p>
          <a:p>
            <a:pPr>
              <a:defRPr sz="1400"/>
            </a:pPr>
            <a:r>
              <a:t>• PatientName → 'ANON'</a:t>
            </a:r>
          </a:p>
          <a:p>
            <a:pPr>
              <a:defRPr sz="1400"/>
            </a:pPr>
            <a:r>
              <a:t>• PatientID → Pseudonym</a:t>
            </a:r>
          </a:p>
          <a:p>
            <a:pPr>
              <a:defRPr sz="1400"/>
            </a:pPr>
            <a:r>
              <a:t>• Birth/Study dates → Removed</a:t>
            </a:r>
          </a:p>
          <a:p>
            <a:pPr>
              <a:defRPr sz="1400"/>
            </a:pPr>
            <a:r>
              <a:t>• UIDs → Random (unique)</a:t>
            </a:r>
          </a:p>
          <a:p>
            <a:pPr>
              <a:defRPr sz="1400"/>
            </a:pPr>
            <a:r>
              <a:t>• Pixel blackout → Enabled</a:t>
            </a:r>
          </a:p>
          <a:p>
            <a:pPr>
              <a:defRPr sz="1400"/>
            </a:pPr>
            <a:r>
              <a:t>Use: Public data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2400"/>
            </a:pPr>
            <a:r>
              <a:t>research-pseudonymized</a:t>
            </a:r>
          </a:p>
          <a:p>
            <a:pPr>
              <a:defRPr sz="1400"/>
            </a:pPr>
            <a:r>
              <a:t>Research-grade</a:t>
            </a:r>
          </a:p>
          <a:p>
            <a:pPr>
              <a:defRPr sz="1400"/>
            </a:pPr>
            <a:r>
              <a:t>• PatientName → Pseudonym</a:t>
            </a:r>
          </a:p>
          <a:p>
            <a:pPr>
              <a:defRPr sz="1400"/>
            </a:pPr>
            <a:r>
              <a:t>• PatientID → Pseudonym</a:t>
            </a:r>
          </a:p>
          <a:p>
            <a:pPr>
              <a:defRPr sz="1400"/>
            </a:pPr>
            <a:r>
              <a:t>• Study dates → Retained</a:t>
            </a:r>
          </a:p>
          <a:p>
            <a:pPr>
              <a:defRPr sz="1400"/>
            </a:pPr>
            <a:r>
              <a:t>• UIDs → Deterministic</a:t>
            </a:r>
          </a:p>
          <a:p>
            <a:pPr>
              <a:defRPr sz="1400"/>
            </a:pPr>
            <a:r>
              <a:t>• Pixel blackout → Off</a:t>
            </a:r>
          </a:p>
          <a:p>
            <a:pPr>
              <a:defRPr sz="1400"/>
            </a:pPr>
            <a:r>
              <a:t>Use: Institutional research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Examples: Common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Scenario 1 - Single patient anonymization:</a:t>
            </a:r>
          </a:p>
          <a:p>
            <a:pPr/>
            <a:r>
              <a:t>  $ python anonymizer_pro.py -i patient_001.dcm --salt 'KEY2026'</a:t>
            </a:r>
          </a:p>
          <a:p>
            <a:pPr/>
          </a:p>
          <a:p>
            <a:pPr/>
            <a:r>
              <a:t>Scenario 2 - Batch process with custom output:</a:t>
            </a:r>
          </a:p>
          <a:p>
            <a:pPr/>
            <a:r>
              <a:t>  $ python anonymizer_pro.py -i /data/studies/ \</a:t>
            </a:r>
          </a:p>
          <a:p>
            <a:pPr/>
            <a:r>
              <a:t>      -p research-pseudonymized.json \</a:t>
            </a:r>
          </a:p>
          <a:p>
            <a:pPr/>
            <a:r>
              <a:t>      -o /output/anonymized/ \</a:t>
            </a:r>
          </a:p>
          <a:p>
            <a:pPr/>
            <a:r>
              <a:t>      --salt 'SecureKey123'</a:t>
            </a:r>
          </a:p>
          <a:p>
            <a:pPr/>
          </a:p>
          <a:p>
            <a:pPr/>
            <a:r>
              <a:t>Scenario 3 - GDPR compliance (strictest):</a:t>
            </a:r>
          </a:p>
          <a:p>
            <a:pPr/>
            <a:r>
              <a:t>  $ python anonymizer_pro.py -i /studies/batch/ \</a:t>
            </a:r>
          </a:p>
          <a:p>
            <a:pPr/>
            <a:r>
              <a:t>      -p GDPR-strict.json \</a:t>
            </a:r>
          </a:p>
          <a:p>
            <a:pPr/>
            <a:r>
              <a:t>      --salt $(cat /secure/.salt_file)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Structure: What Gets Generated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Folder structure:</a:t>
            </a:r>
          </a:p>
          <a:p>
            <a:pPr/>
            <a:r>
              <a:t>  ANON_EXPORT_YYYYMMDD_HHMMSS/</a:t>
            </a:r>
          </a:p>
          <a:p>
            <a:pPr/>
            <a:r>
              <a:t>  ├── anonymization_log.csv              ← Audit trail</a:t>
            </a:r>
          </a:p>
          <a:p>
            <a:pPr/>
            <a:r>
              <a:t>  └── DICOM/</a:t>
            </a:r>
          </a:p>
          <a:p>
            <a:pPr/>
            <a:r>
              <a:t>      └── PX3F91AD/                      ← Patient pseudonym</a:t>
            </a:r>
          </a:p>
          <a:p>
            <a:pPr/>
            <a:r>
              <a:t>          ├── PX3F91AD_..._S001_I0001.dcm</a:t>
            </a:r>
          </a:p>
          <a:p>
            <a:pPr/>
            <a:r>
              <a:t>          ├── PX3F91AD_..._S001_I0002.dcm</a:t>
            </a:r>
          </a:p>
          <a:p>
            <a:pPr/>
            <a:r>
              <a:t>          └── ... (one file per image)</a:t>
            </a:r>
          </a:p>
          <a:p>
            <a:pPr/>
          </a:p>
          <a:p>
            <a:pPr/>
            <a:r>
              <a:t>Filenames encode: Patient + Timestamp + Series + Image numbers</a:t>
            </a:r>
          </a:p>
          <a:p>
            <a:pPr/>
            <a:r>
              <a:t>CSV log connects input→output files for verification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Verification: Checking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Utility Scripts:</a:t>
            </a:r>
          </a:p>
          <a:p>
            <a:pPr/>
          </a:p>
          <a:p>
            <a:pPr/>
            <a:r>
              <a:t>1. dump_dicom_metadata.py</a:t>
            </a:r>
          </a:p>
          <a:p>
            <a:pPr/>
            <a:r>
              <a:t>   Shows all DICOM tags in a file (before/after comparison)</a:t>
            </a:r>
          </a:p>
          <a:p>
            <a:pPr/>
          </a:p>
          <a:p>
            <a:pPr/>
            <a:r>
              <a:t>2. validator.py</a:t>
            </a:r>
          </a:p>
          <a:p>
            <a:pPr/>
            <a:r>
              <a:t>   Verifies anonymized files match the profile requirements</a:t>
            </a:r>
          </a:p>
          <a:p>
            <a:pPr/>
          </a:p>
          <a:p>
            <a:pPr/>
            <a:r>
              <a:t>3. compare_dicom_images.py</a:t>
            </a:r>
          </a:p>
          <a:p>
            <a:pPr/>
            <a:r>
              <a:t>   Side-by-side comparison of original vs anonymized headers</a:t>
            </a:r>
          </a:p>
          <a:p>
            <a:pPr/>
          </a:p>
          <a:p>
            <a:pPr/>
            <a:r>
              <a:t>Recommended workflow:</a:t>
            </a:r>
          </a:p>
          <a:p>
            <a:pPr/>
            <a:r>
              <a:t>  Anonymize → Validate → Review log → Confirm safe for sharing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What You'll See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We'll demonstrate:</a:t>
            </a:r>
          </a:p>
          <a:p>
            <a:pPr/>
            <a:r>
              <a:t>  ✓ Running anonymizer on sample brain imaging data</a:t>
            </a:r>
          </a:p>
          <a:p>
            <a:pPr/>
            <a:r>
              <a:t>  ✓ Output folder structure generated</a:t>
            </a:r>
          </a:p>
          <a:p>
            <a:pPr/>
            <a:r>
              <a:t>  ✓ Audit log CSV showing all transformations</a:t>
            </a:r>
          </a:p>
          <a:p>
            <a:pPr/>
            <a:r>
              <a:t>  ✓ Inspecting before/after metadata</a:t>
            </a:r>
          </a:p>
          <a:p>
            <a:pPr/>
            <a:r>
              <a:t>  ✓ Verifying patient ID pseudonymization</a:t>
            </a:r>
          </a:p>
          <a:p>
            <a:pPr/>
          </a:p>
          <a:p>
            <a:pPr/>
            <a:r>
              <a:t>Time: ~5 minutes (includes running tool + inspection)</a:t>
            </a:r>
          </a:p>
          <a:p>
            <a:pPr/>
          </a:p>
          <a:p>
            <a:pPr/>
            <a:r>
              <a:t>Demo data: sample1/Brain 5 mm/ (36 DICOM images)</a:t>
            </a:r>
          </a:p>
          <a:p>
            <a:pPr/>
            <a:r>
              <a:t>Profile: GDPR-strict (maximum de-identification)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Documentation included:</a:t>
            </a:r>
          </a:p>
          <a:p>
            <a:pPr/>
            <a:r>
              <a:t>  📄 README.md — Project overview</a:t>
            </a:r>
          </a:p>
          <a:p>
            <a:pPr/>
            <a:r>
              <a:t>  📄 INSTALL.md — Detailed setup instructions</a:t>
            </a:r>
          </a:p>
          <a:p>
            <a:pPr/>
            <a:r>
              <a:t>  📄 Technical appendix — Architecture details</a:t>
            </a:r>
          </a:p>
          <a:p>
            <a:pPr/>
            <a:r>
              <a:t>  📄 Quick reference — Command cheat sheet</a:t>
            </a:r>
          </a:p>
          <a:p>
            <a:pPr/>
          </a:p>
          <a:p>
            <a:pPr/>
            <a:r>
              <a:t>Support:</a:t>
            </a:r>
          </a:p>
          <a:p>
            <a:pPr/>
            <a:r>
              <a:t>  • Technical issues → Check appendix troubleshooting</a:t>
            </a:r>
          </a:p>
          <a:p>
            <a:pPr/>
            <a:r>
              <a:t>  • Profile customization → See JSON schema documentation</a:t>
            </a:r>
          </a:p>
          <a:p>
            <a:pPr/>
            <a:r>
              <a:t>  • Compliance questions → Review audit logging section</a:t>
            </a:r>
          </a:p>
          <a:p>
            <a:pPr/>
          </a:p>
          <a:p>
            <a:pP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